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image" Target="../media/image-2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3.jpg"/><Relationship Id="rId4" Type="http://schemas.openxmlformats.org/officeDocument/2006/relationships/image" Target="../media/image-24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image" Target="../media/image-25-3.jpg"/><Relationship Id="rId4" Type="http://schemas.openxmlformats.org/officeDocument/2006/relationships/image" Target="../media/image-25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image" Target="../media/image-26-3.jpg"/><Relationship Id="rId4" Type="http://schemas.openxmlformats.org/officeDocument/2006/relationships/image" Target="../media/image-26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inruiqing/MyProjects/My skills/ppt-maker/projects/openclaw-intro/assets/bg-cover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inruiqing/MyProjects/My skills/ppt-maker/projects/openclaw-intro/assets/bg-cover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41248" y="786384"/>
            <a:ext cx="1965960" cy="365760"/>
          </a:xfrm>
          <a:prstGeom prst="roundRect">
            <a:avLst/>
          </a:prstGeom>
          <a:solidFill>
            <a:srgbClr val="0E213B"/>
          </a:solidFill>
          <a:ln w="12700">
            <a:solidFill>
              <a:srgbClr val="39C6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78992" y="877824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Automation Runtime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inruiqing/MyProjects/My skills/ppt-maker/projects/openclaw-intro/assets/bg-cover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41248" y="786384"/>
            <a:ext cx="1965960" cy="365760"/>
          </a:xfrm>
          <a:prstGeom prst="roundRect">
            <a:avLst/>
          </a:prstGeom>
          <a:solidFill>
            <a:srgbClr val="0E213B"/>
          </a:solidFill>
          <a:ln w="12700">
            <a:solidFill>
              <a:srgbClr val="39C6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78992" y="877824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Automation Runtime</a:t>
            </a:r>
            <a:endParaRPr lang="en-US" sz="1300" dirty="0"/>
          </a:p>
        </p:txBody>
      </p:sp>
      <p:pic>
        <p:nvPicPr>
          <p:cNvPr id="5" name="Image 1" descr="/Users/minruiqing/MyProjects/My skills/ppt-maker/projects/openclaw-intro/assets/openclaw-logo-text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822960" y="1280160"/>
            <a:ext cx="3840480" cy="7772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41248" y="2331720"/>
            <a:ext cx="45262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C6D8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 onboarding、OAuth、gateway、dashboard、devices、skills 与 MCP 工作流整合成一个更容易上手的本地执行入口。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inruiqing/MyProjects/My skills/ppt-maker/projects/openclaw-intro/assets/bg-cover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41248" y="786384"/>
            <a:ext cx="1965960" cy="365760"/>
          </a:xfrm>
          <a:prstGeom prst="roundRect">
            <a:avLst/>
          </a:prstGeom>
          <a:solidFill>
            <a:srgbClr val="0E213B"/>
          </a:solidFill>
          <a:ln w="12700">
            <a:solidFill>
              <a:srgbClr val="39C6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78992" y="877824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Automation Runtime</a:t>
            </a:r>
            <a:endParaRPr lang="en-US" sz="1300" dirty="0"/>
          </a:p>
        </p:txBody>
      </p:sp>
      <p:pic>
        <p:nvPicPr>
          <p:cNvPr id="5" name="Image 1" descr="/Users/minruiqing/MyProjects/My skills/ppt-maker/projects/openclaw-intro/assets/openclaw-logo-text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822960" y="1280160"/>
            <a:ext cx="3840480" cy="7772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41248" y="2331720"/>
            <a:ext cx="45262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C6D8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 onboarding、OAuth、gateway、dashboard、devices、skills 与 MCP 工作流整合成一个更容易上手的本地执行入口。</a:t>
            </a:r>
            <a:endParaRPr lang="en-US" sz="1900" dirty="0"/>
          </a:p>
        </p:txBody>
      </p:sp>
      <p:pic>
        <p:nvPicPr>
          <p:cNvPr id="7" name="Image 2" descr="/Users/minruiqing/MyProjects/My skills/ppt-maker/projects/openclaw-intro/assets/agents-ui-official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650992" y="1097280"/>
            <a:ext cx="5532120" cy="32461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839712" y="453542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官方 showcase 中的 Agents UI 截图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inruiqing/MyProjects/My skills/ppt-maker/projects/openclaw-intro/assets/bg-cover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41248" y="786384"/>
            <a:ext cx="1965960" cy="365760"/>
          </a:xfrm>
          <a:prstGeom prst="roundRect">
            <a:avLst/>
          </a:prstGeom>
          <a:solidFill>
            <a:srgbClr val="0E213B"/>
          </a:solidFill>
          <a:ln w="12700">
            <a:solidFill>
              <a:srgbClr val="39C6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78992" y="877824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Automation Runtime</a:t>
            </a:r>
            <a:endParaRPr lang="en-US" sz="1300" dirty="0"/>
          </a:p>
        </p:txBody>
      </p:sp>
      <p:pic>
        <p:nvPicPr>
          <p:cNvPr id="5" name="Image 1" descr="/Users/minruiqing/MyProjects/My skills/ppt-maker/projects/openclaw-intro/assets/openclaw-logo-text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r="0" t="0" b="0"/>
          <a:stretch/>
        </p:blipFill>
        <p:spPr>
          <a:xfrm>
            <a:off x="822960" y="1280160"/>
            <a:ext cx="3840480" cy="7772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41248" y="2331720"/>
            <a:ext cx="45262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C6D8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 onboarding、OAuth、gateway、dashboard、devices、skills 与 MCP 工作流整合成一个更容易上手的本地执行入口。</a:t>
            </a:r>
            <a:endParaRPr lang="en-US" sz="1900" dirty="0"/>
          </a:p>
        </p:txBody>
      </p:sp>
      <p:sp>
        <p:nvSpPr>
          <p:cNvPr id="7" name="Shape 3"/>
          <p:cNvSpPr/>
          <p:nvPr/>
        </p:nvSpPr>
        <p:spPr>
          <a:xfrm>
            <a:off x="822960" y="4370832"/>
            <a:ext cx="4251960" cy="1078992"/>
          </a:xfrm>
          <a:prstGeom prst="roundRect">
            <a:avLst/>
          </a:prstGeom>
          <a:solidFill>
            <a:srgbClr val="0A1C33"/>
          </a:solidFill>
          <a:ln w="12700">
            <a:solidFill>
              <a:srgbClr val="193A5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60704" y="4645152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6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在当前工作区里，它既是 skill 的运行环境，也是连接 CLI、TUI、浏览器界面和 MCP 的控制中枢。</a:t>
            </a:r>
            <a:endParaRPr lang="en-US" sz="1600" dirty="0"/>
          </a:p>
        </p:txBody>
      </p:sp>
      <p:pic>
        <p:nvPicPr>
          <p:cNvPr id="9" name="Image 2" descr="/Users/minruiqing/MyProjects/My skills/ppt-maker/projects/openclaw-intro/assets/agents-ui-official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650992" y="1097280"/>
            <a:ext cx="5532120" cy="32461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39712" y="453542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官方 showcase 中的 Agents UI 截图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inruiqing/MyProjects/My skills/ppt-maker/projects/openclaw-intro/assets/bg-gri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inruiqing/MyProjects/My skills/ppt-maker/projects/openclaw-intro/assets/bg-gri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5836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OpenClaw 是什么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41248" y="12070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不是单一命令，而是一条完整的本地 AI 执行链路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inruiqing/MyProjects/My skills/ppt-maker/projects/openclaw-intro/assets/bg-gri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5836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OpenClaw 是什么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41248" y="12070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不是单一命令，而是一条完整的本地 AI 执行链路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41248" y="1737360"/>
            <a:ext cx="4663440" cy="1078992"/>
          </a:xfrm>
          <a:prstGeom prst="roundRect">
            <a:avLst/>
          </a:prstGeom>
          <a:solidFill>
            <a:srgbClr val="0C182B"/>
          </a:solidFill>
          <a:ln w="12700">
            <a:solidFill>
              <a:srgbClr val="18314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5568" y="19568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安装与认证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115568" y="2249424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8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onboard、OpenAI Codex OAuth 和环境准备被整合成一套明确的首次启动路径。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inruiqing/MyProjects/My skills/ppt-maker/projects/openclaw-intro/assets/bg-gri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5836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OpenClaw 是什么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41248" y="12070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不是单一命令，而是一条完整的本地 AI 执行链路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41248" y="1737360"/>
            <a:ext cx="4663440" cy="1078992"/>
          </a:xfrm>
          <a:prstGeom prst="roundRect">
            <a:avLst/>
          </a:prstGeom>
          <a:solidFill>
            <a:srgbClr val="0C182B"/>
          </a:solidFill>
          <a:ln w="12700">
            <a:solidFill>
              <a:srgbClr val="18314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5568" y="19568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安装与认证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115568" y="2249424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8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onboard、OpenAI Codex OAuth 和环境准备被整合成一套明确的首次启动路径。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41248" y="2999232"/>
            <a:ext cx="4663440" cy="1115568"/>
          </a:xfrm>
          <a:prstGeom prst="roundRect">
            <a:avLst/>
          </a:prstGeom>
          <a:solidFill>
            <a:srgbClr val="0C182B"/>
          </a:solidFill>
          <a:ln w="12700">
            <a:solidFill>
              <a:srgbClr val="1831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15568" y="32369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服务与控制台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115568" y="3529584"/>
            <a:ext cx="3950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8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gateway、dashboard 与 TUI 让本地服务、浏览器界面和终端交互处在同一套体系内。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inruiqing/MyProjects/My skills/ppt-maker/projects/openclaw-intro/assets/bg-gri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5836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OpenClaw 是什么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41248" y="12070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不是单一命令，而是一条完整的本地 AI 执行链路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41248" y="1737360"/>
            <a:ext cx="4663440" cy="1078992"/>
          </a:xfrm>
          <a:prstGeom prst="roundRect">
            <a:avLst/>
          </a:prstGeom>
          <a:solidFill>
            <a:srgbClr val="0C182B"/>
          </a:solidFill>
          <a:ln w="12700">
            <a:solidFill>
              <a:srgbClr val="18314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5568" y="19568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安装与认证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115568" y="2249424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8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onboard、OpenAI Codex OAuth 和环境准备被整合成一套明确的首次启动路径。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41248" y="2999232"/>
            <a:ext cx="4663440" cy="1115568"/>
          </a:xfrm>
          <a:prstGeom prst="roundRect">
            <a:avLst/>
          </a:prstGeom>
          <a:solidFill>
            <a:srgbClr val="0C182B"/>
          </a:solidFill>
          <a:ln w="12700">
            <a:solidFill>
              <a:srgbClr val="1831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15568" y="32369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服务与控制台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115568" y="3529584"/>
            <a:ext cx="3950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8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gateway、dashboard 与 TUI 让本地服务、浏览器界面和终端交互处在同一套体系内。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41248" y="4315968"/>
            <a:ext cx="4663440" cy="1097280"/>
          </a:xfrm>
          <a:prstGeom prst="roundRect">
            <a:avLst/>
          </a:prstGeom>
          <a:solidFill>
            <a:srgbClr val="0C182B"/>
          </a:solidFill>
          <a:ln w="12700">
            <a:solidFill>
              <a:srgbClr val="1831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45445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 与 MCP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115568" y="4828032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8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在这个工作区里，多个 skill 都把 OpenClaw 作为默认宿主，同时也能联动外部 MCP 工作流。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inruiqing/MyProjects/My skills/ppt-maker/projects/openclaw-intro/assets/bg-gri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5836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OpenClaw 是什么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41248" y="12070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不是单一命令，而是一条完整的本地 AI 执行链路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41248" y="1737360"/>
            <a:ext cx="4663440" cy="1078992"/>
          </a:xfrm>
          <a:prstGeom prst="roundRect">
            <a:avLst/>
          </a:prstGeom>
          <a:solidFill>
            <a:srgbClr val="0C182B"/>
          </a:solidFill>
          <a:ln w="12700">
            <a:solidFill>
              <a:srgbClr val="18314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5568" y="19568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安装与认证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115568" y="2249424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8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onboard、OpenAI Codex OAuth 和环境准备被整合成一套明确的首次启动路径。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41248" y="2999232"/>
            <a:ext cx="4663440" cy="1115568"/>
          </a:xfrm>
          <a:prstGeom prst="roundRect">
            <a:avLst/>
          </a:prstGeom>
          <a:solidFill>
            <a:srgbClr val="0C182B"/>
          </a:solidFill>
          <a:ln w="12700">
            <a:solidFill>
              <a:srgbClr val="1831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15568" y="32369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服务与控制台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115568" y="3529584"/>
            <a:ext cx="3950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8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gateway、dashboard 与 TUI 让本地服务、浏览器界面和终端交互处在同一套体系内。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41248" y="4315968"/>
            <a:ext cx="4663440" cy="1097280"/>
          </a:xfrm>
          <a:prstGeom prst="roundRect">
            <a:avLst/>
          </a:prstGeom>
          <a:solidFill>
            <a:srgbClr val="0C182B"/>
          </a:solidFill>
          <a:ln w="12700">
            <a:solidFill>
              <a:srgbClr val="1831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45445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 与 MCP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115568" y="4828032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8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在这个工作区里，多个 skill 都把 OpenClaw 作为默认宿主，同时也能联动外部 MCP 工作流。</a:t>
            </a:r>
            <a:endParaRPr lang="en-US" sz="1500" dirty="0"/>
          </a:p>
        </p:txBody>
      </p:sp>
      <p:pic>
        <p:nvPicPr>
          <p:cNvPr id="14" name="Image 1" descr="/Users/minruiqing/MyProjects/My skills/ppt-maker/projects/openclaw-intro/assets/codexmonitor-official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10528" y="1417320"/>
            <a:ext cx="4709160" cy="32461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729984" y="493776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官方 showcase 中的 CodexMonitor 截图，能更直观看到 OpenClaw 连接到实际工作流后的产品形态。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inruiqing/MyProjects/My skills/ppt-maker/projects/openclaw-intro/assets/bg-gri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41248" y="1828800"/>
            <a:ext cx="3474720" cy="3063240"/>
          </a:xfrm>
          <a:prstGeom prst="roundRect">
            <a:avLst/>
          </a:prstGeom>
          <a:solidFill>
            <a:srgbClr val="0D1C31"/>
          </a:solidFill>
          <a:ln w="12700">
            <a:solidFill>
              <a:srgbClr val="173B5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133856" y="20848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Faster Setup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133856" y="2542032"/>
            <a:ext cx="2761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把首次安装从一堆零散命令，压缩成一条更稳的 onboarding 路径。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133856" y="3767328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7D8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安装文档里专门处理了 brew 权限、OAuth 交互模式、gateway 启动和 nvm 环境丢失等高频问题。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370832" y="1828800"/>
            <a:ext cx="3474720" cy="3063240"/>
          </a:xfrm>
          <a:prstGeom prst="roundRect">
            <a:avLst/>
          </a:prstGeom>
          <a:solidFill>
            <a:srgbClr val="0D1C31"/>
          </a:solidFill>
          <a:ln w="12700">
            <a:solidFill>
              <a:srgbClr val="173B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663440" y="20848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Visible Runtime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663440" y="2542032"/>
            <a:ext cx="2761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 CLI、dashboard、TUI 和 devices 的状态放进同一个可观察系统。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663440" y="3767328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7D8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status、dashboard、approve、clear 和 repair 这些命令，让排错不再只能靠猜。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900416" y="1828800"/>
            <a:ext cx="3456432" cy="3063240"/>
          </a:xfrm>
          <a:prstGeom prst="roundRect">
            <a:avLst/>
          </a:prstGeom>
          <a:solidFill>
            <a:srgbClr val="10315A"/>
          </a:solidFill>
          <a:ln w="12700">
            <a:solidFill>
              <a:srgbClr val="39C6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93024" y="208483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Workflow Hub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193024" y="2542032"/>
            <a:ext cx="2706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让 skill、浏览器自动化和 MCP 调用可以落在同一个运行入口里。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193024" y="3767328"/>
            <a:ext cx="27066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9E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在这个工作区里，Publish-All、公众号工具链和小红书 skill 都把它视为长期宿主环境。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inruiqing/MyProjects/My skills/ppt-maker/projects/openclaw-intro/assets/bg-gri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58368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为什么它值得单独介绍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41248" y="120700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它把安装、运维、交互与工作流统一进一个更顺手的入口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41248" y="1828800"/>
            <a:ext cx="3474720" cy="3063240"/>
          </a:xfrm>
          <a:prstGeom prst="roundRect">
            <a:avLst/>
          </a:prstGeom>
          <a:solidFill>
            <a:srgbClr val="0D1C31"/>
          </a:solidFill>
          <a:ln w="12700">
            <a:solidFill>
              <a:srgbClr val="173B5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33856" y="20848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Faster Setup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33856" y="2542032"/>
            <a:ext cx="2761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把首次安装从一堆零散命令，压缩成一条更稳的 onboarding 路径。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133856" y="3767328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7D8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安装文档里专门处理了 brew 权限、OAuth 交互模式、gateway 启动和 nvm 环境丢失等高频问题。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70832" y="1828800"/>
            <a:ext cx="3474720" cy="3063240"/>
          </a:xfrm>
          <a:prstGeom prst="roundRect">
            <a:avLst/>
          </a:prstGeom>
          <a:solidFill>
            <a:srgbClr val="0D1C31"/>
          </a:solidFill>
          <a:ln w="12700">
            <a:solidFill>
              <a:srgbClr val="173B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63440" y="20848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Visible Runtime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663440" y="2542032"/>
            <a:ext cx="2761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F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 CLI、dashboard、TUI 和 devices 的状态放进同一个可观察系统。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663440" y="3767328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7D8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status、dashboard、approve、clear 和 repair 这些命令，让排错不再只能靠猜。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900416" y="1828800"/>
            <a:ext cx="3456432" cy="3063240"/>
          </a:xfrm>
          <a:prstGeom prst="roundRect">
            <a:avLst/>
          </a:prstGeom>
          <a:solidFill>
            <a:srgbClr val="10315A"/>
          </a:solidFill>
          <a:ln w="12700">
            <a:solidFill>
              <a:srgbClr val="39C6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93024" y="208483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Workflow Hub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193024" y="2542032"/>
            <a:ext cx="2706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让 skill、浏览器自动化和 MCP 调用可以落在同一个运行入口里。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193024" y="3767328"/>
            <a:ext cx="27066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9E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在这个工作区里，Publish-All、公众号工具链和小红书 skill 都把它视为长期宿主环境。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inruiqing/MyProjects/My skills/ppt-maker/projects/openclaw-intro/assets/bg-gri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inruiqing/MyProjects/My skills/ppt-maker/projects/openclaw-intro/assets/bg-gri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5836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推荐安装流程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41248" y="120700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先保稳定，再追求自动化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inruiqing/MyProjects/My skills/ppt-maker/projects/openclaw-intro/assets/bg-gri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5836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推荐安装流程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41248" y="120700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先保稳定，再追求自动化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41248" y="1682496"/>
            <a:ext cx="4956048" cy="4078224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18314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52144" y="1975104"/>
            <a:ext cx="4224528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E6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先用 nvm 准备 Node LTS 与 npm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E6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npm i -g openclaw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E6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先尝试 non-interactive，失败时回退到交互 OAuth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E6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安装后立刻 gateway install + start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E6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用 status、dashboard 与 token 验证连通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inruiqing/MyProjects/My skills/ppt-maker/projects/openclaw-intro/assets/bg-gri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5836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推荐安装流程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41248" y="120700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先保稳定，再追求自动化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41248" y="1682496"/>
            <a:ext cx="4956048" cy="4078224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18314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52144" y="1975104"/>
            <a:ext cx="4224528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E6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先用 nvm 准备 Node LTS 与 npm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E6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npm i -g openclaw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E6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先尝试 non-interactive，失败时回退到交互 OAuth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E6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安装后立刻 gateway install + start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E6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用 status、dashboard 与 token 验证连通</a:t>
            </a:r>
            <a:endParaRPr lang="en-US" sz="1700" dirty="0"/>
          </a:p>
        </p:txBody>
      </p:sp>
      <p:pic>
        <p:nvPicPr>
          <p:cNvPr id="7" name="Image 1" descr="/Users/minruiqing/MyProjects/My skills/ppt-maker/projects/openclaw-intro/assets/choose-gateway-official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19088" y="1517904"/>
            <a:ext cx="4736592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inruiqing/MyProjects/My skills/ppt-maker/projects/openclaw-intro/assets/bg-gri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5836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推荐安装流程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41248" y="120700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先保稳定，再追求自动化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41248" y="1682496"/>
            <a:ext cx="4956048" cy="4078224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18314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52144" y="1975104"/>
            <a:ext cx="4224528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E6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先用 nvm 准备 Node LTS 与 npm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E6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npm i -g openclaw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E6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先尝试 non-interactive，失败时回退到交互 OAuth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E6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安装后立刻 gateway install + start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E6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用 status、dashboard 与 token 验证连通</a:t>
            </a:r>
            <a:endParaRPr lang="en-US" sz="1700" dirty="0"/>
          </a:p>
        </p:txBody>
      </p:sp>
      <p:pic>
        <p:nvPicPr>
          <p:cNvPr id="7" name="Image 1" descr="/Users/minruiqing/MyProjects/My skills/ppt-maker/projects/openclaw-intro/assets/choose-gateway-official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19088" y="1517904"/>
            <a:ext cx="4736592" cy="35204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510528" y="5285232"/>
            <a:ext cx="4572000" cy="82296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18314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748272" y="5559552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E7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nvm use --lts   ·   openclaw onboard   ·   openclaw gateway start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inruiqing/MyProjects/My skills/ppt-maker/projects/openclaw-intro/assets/bg-gri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41248" y="1664208"/>
            <a:ext cx="3566160" cy="1536192"/>
          </a:xfrm>
          <a:prstGeom prst="roundRect">
            <a:avLst/>
          </a:prstGeom>
          <a:solidFill>
            <a:srgbClr val="0D1C31"/>
          </a:solidFill>
          <a:ln w="12700">
            <a:solidFill>
              <a:srgbClr val="173B5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97280" y="190195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brew 需要 sudo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097280" y="22494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8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没有管理员权限的机器上，优先改走 nvm + npm 路线。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26280" y="1664208"/>
            <a:ext cx="3566160" cy="1536192"/>
          </a:xfrm>
          <a:prstGeom prst="roundRect">
            <a:avLst/>
          </a:prstGeom>
          <a:solidFill>
            <a:srgbClr val="0D1C31"/>
          </a:solidFill>
          <a:ln w="12700">
            <a:solidFill>
              <a:srgbClr val="173B5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73168" y="19019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OAuth 不能强行无交互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773168" y="22494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8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新版本下遇到失败时，要允许回退到浏览器交互授权。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11312" y="1664208"/>
            <a:ext cx="3136392" cy="1536192"/>
          </a:xfrm>
          <a:prstGeom prst="roundRect">
            <a:avLst/>
          </a:prstGeom>
          <a:solidFill>
            <a:srgbClr val="10315A"/>
          </a:solidFill>
          <a:ln w="12700">
            <a:solidFill>
              <a:srgbClr val="39C6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49056" y="190195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gateway 未启动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449056" y="2249424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9E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只做 onboarding 不启动 gateway 时，status 容易显示 unreachable。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41248" y="3840480"/>
            <a:ext cx="10497312" cy="14173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1831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15568" y="41330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排错顺序建议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15568" y="449884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6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先看 nvm / node 是否可用，再确认 OAuth 是否需要交互回退，然后检查 gateway，最后处理 devices approve / clear / repair。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inruiqing/MyProjects/My skills/ppt-maker/projects/openclaw-intro/assets/bg-gri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58368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第一次上手最容易踩的坑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841248" y="1664208"/>
            <a:ext cx="3566160" cy="1536192"/>
          </a:xfrm>
          <a:prstGeom prst="roundRect">
            <a:avLst/>
          </a:prstGeom>
          <a:solidFill>
            <a:srgbClr val="0D1C31"/>
          </a:solidFill>
          <a:ln w="12700">
            <a:solidFill>
              <a:srgbClr val="173B5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97280" y="190195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brew 需要 sudo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97280" y="22494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8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没有管理员权限的机器上，优先改走 nvm + npm 路线。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26280" y="1664208"/>
            <a:ext cx="3566160" cy="1536192"/>
          </a:xfrm>
          <a:prstGeom prst="roundRect">
            <a:avLst/>
          </a:prstGeom>
          <a:solidFill>
            <a:srgbClr val="0D1C31"/>
          </a:solidFill>
          <a:ln w="12700">
            <a:solidFill>
              <a:srgbClr val="173B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73168" y="19019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OAuth 不能强行无交互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773168" y="22494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8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新版本下遇到失败时，要允许回退到浏览器交互授权。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11312" y="1664208"/>
            <a:ext cx="3136392" cy="1536192"/>
          </a:xfrm>
          <a:prstGeom prst="roundRect">
            <a:avLst/>
          </a:prstGeom>
          <a:solidFill>
            <a:srgbClr val="10315A"/>
          </a:solidFill>
          <a:ln w="12700">
            <a:solidFill>
              <a:srgbClr val="39C6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49056" y="190195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gateway 未启动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449056" y="2249424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9E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只做 onboarding 不启动 gateway 时，status 容易显示 unreachable。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41248" y="3840480"/>
            <a:ext cx="10497312" cy="14173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1831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5568" y="41330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排错顺序建议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15568" y="449884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6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先看 nvm / node 是否可用，再确认 OAuth 是否需要交互回退，然后检查 gateway，最后处理 devices approve / clear / repair。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inruiqing/MyProjects/My skills/ppt-maker/projects/openclaw-intro/assets/bg-gri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5836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在这个工作区里可以怎么用</a:t>
            </a:r>
            <a:endParaRPr lang="en-US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inruiqing/MyProjects/My skills/ppt-maker/projects/openclaw-intro/assets/bg-gri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5836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在这个工作区里可以怎么用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41248" y="120700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它既是技能宿主，也是连接命令行与 MCP 的中枢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inruiqing/MyProjects/My skills/ppt-maker/projects/openclaw-intro/assets/bg-gri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5836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在这个工作区里可以怎么用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41248" y="120700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它既是技能宿主，也是连接命令行与 MCP 的中枢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41248" y="1755648"/>
            <a:ext cx="5047488" cy="182880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18314C"/>
            </a:solidFill>
            <a:prstDash val="solid"/>
          </a:ln>
        </p:spPr>
      </p:sp>
      <p:pic>
        <p:nvPicPr>
          <p:cNvPr id="6" name="Image 1" descr="/Users/minruiqing/MyProjects/My skills/ppt-maker/projects/openclaw-intro/assets/agents-ui-official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87552" y="1901952"/>
            <a:ext cx="4754880" cy="157276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inruiqing/MyProjects/My skills/ppt-maker/projects/openclaw-intro/assets/bg-gri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5836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在这个工作区里可以怎么用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41248" y="120700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它既是技能宿主，也是连接命令行与 MCP 的中枢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41248" y="1755648"/>
            <a:ext cx="5047488" cy="182880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18314C"/>
            </a:solidFill>
            <a:prstDash val="solid"/>
          </a:ln>
        </p:spPr>
      </p:sp>
      <p:pic>
        <p:nvPicPr>
          <p:cNvPr id="6" name="Image 1" descr="/Users/minruiqing/MyProjects/My skills/ppt-maker/projects/openclaw-intro/assets/agents-ui-official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87552" y="1901952"/>
            <a:ext cx="4754880" cy="157276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41248" y="3822192"/>
            <a:ext cx="5047488" cy="1755648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18314C"/>
            </a:solidFill>
            <a:prstDash val="solid"/>
          </a:ln>
        </p:spPr>
      </p:sp>
      <p:pic>
        <p:nvPicPr>
          <p:cNvPr id="8" name="Image 2" descr="/Users/minruiqing/MyProjects/My skills/ppt-maker/projects/openclaw-intro/assets/pr-review-telegram-official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87552" y="3968496"/>
            <a:ext cx="4754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inruiqing/MyProjects/My skills/ppt-maker/projects/openclaw-intro/assets/bg-gri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5836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在这个工作区里可以怎么用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41248" y="120700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它既是技能宿主，也是连接命令行与 MCP 的中枢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41248" y="1755648"/>
            <a:ext cx="5047488" cy="182880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18314C"/>
            </a:solidFill>
            <a:prstDash val="solid"/>
          </a:ln>
        </p:spPr>
      </p:sp>
      <p:pic>
        <p:nvPicPr>
          <p:cNvPr id="6" name="Image 1" descr="/Users/minruiqing/MyProjects/My skills/ppt-maker/projects/openclaw-intro/assets/agents-ui-official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87552" y="1901952"/>
            <a:ext cx="4754880" cy="157276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41248" y="3822192"/>
            <a:ext cx="5047488" cy="1755648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18314C"/>
            </a:solidFill>
            <a:prstDash val="solid"/>
          </a:ln>
        </p:spPr>
      </p:sp>
      <p:pic>
        <p:nvPicPr>
          <p:cNvPr id="8" name="Image 2" descr="/Users/minruiqing/MyProjects/My skills/ppt-maker/projects/openclaw-intro/assets/pr-review-telegram-official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87552" y="3968496"/>
            <a:ext cx="4754880" cy="146304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419088" y="1664208"/>
            <a:ext cx="4800600" cy="37033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18314C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6711696" y="195681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Commands To Remember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711696" y="2359152"/>
            <a:ext cx="404164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6F0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openclaw status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6F0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查看当前状态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6F0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openclaw dashboard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6F0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打开本地 dashboard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6F0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openclaw devices approve --latest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6F0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处理修复或升级后的配对请求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6F0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openclaw tui --token ...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6F0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以终端方式连接与操作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inruiqing/MyProjects/My skills/ppt-maker/projects/openclaw-intro/assets/bg-gri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5836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在这个工作区里可以怎么用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41248" y="120700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它既是技能宿主，也是连接命令行与 MCP 的中枢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41248" y="1755648"/>
            <a:ext cx="5047488" cy="182880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18314C"/>
            </a:solidFill>
            <a:prstDash val="solid"/>
          </a:ln>
        </p:spPr>
      </p:sp>
      <p:pic>
        <p:nvPicPr>
          <p:cNvPr id="6" name="Image 1" descr="/Users/minruiqing/MyProjects/My skills/ppt-maker/projects/openclaw-intro/assets/agents-ui-official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87552" y="1901952"/>
            <a:ext cx="4754880" cy="157276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41248" y="3822192"/>
            <a:ext cx="5047488" cy="1755648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18314C"/>
            </a:solidFill>
            <a:prstDash val="solid"/>
          </a:ln>
        </p:spPr>
      </p:sp>
      <p:pic>
        <p:nvPicPr>
          <p:cNvPr id="8" name="Image 2" descr="/Users/minruiqing/MyProjects/My skills/ppt-maker/projects/openclaw-intro/assets/pr-review-telegram-official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87552" y="3968496"/>
            <a:ext cx="4754880" cy="146304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419088" y="1664208"/>
            <a:ext cx="4800600" cy="3703320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18314C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6711696" y="195681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BB4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Commands To Remember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711696" y="2359152"/>
            <a:ext cx="404164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E6F0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openclaw status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6F0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查看当前状态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6F0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openclaw dashboard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6F0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打开本地 dashboard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6F0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openclaw devices approve --latest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6F0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处理修复或升级后的配对请求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6F0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openclaw tui --token ...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6F0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以终端方式连接与操作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841248" y="5742432"/>
            <a:ext cx="10287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6D8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官方截图也说明了它并不只是安装工具，而是一个真正承接多界面、多通道和自动化工作流的长期运行环境。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OpenClaw 介绍</dc:title>
  <dc:subject>OpenClaw 介绍</dc:subject>
  <dc:creator>Codex PPT Maker</dc:creator>
  <cp:lastModifiedBy>Codex PPT Maker</cp:lastModifiedBy>
  <cp:revision>1</cp:revision>
  <dcterms:created xsi:type="dcterms:W3CDTF">2026-03-29T08:11:59Z</dcterms:created>
  <dcterms:modified xsi:type="dcterms:W3CDTF">2026-03-29T08:11:59Z</dcterms:modified>
</cp:coreProperties>
</file>